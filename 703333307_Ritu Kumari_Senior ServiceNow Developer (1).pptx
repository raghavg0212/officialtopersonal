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sldIdLst>
    <p:sldId id="263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090636-D0EA-8D49-67B7-A69D61E99E0F}" v="3" dt="2026-04-21T08:33:57.566"/>
    <p1510:client id="{386F2466-685C-851A-C5DB-430A50CD6DC9}" v="1" dt="2026-04-21T08:55:35.106"/>
    <p1510:client id="{3F1E7126-33CC-4234-BC0E-019256812F04}" v="103" dt="2026-04-20T16:40:27.405"/>
    <p1510:client id="{54D57433-F26B-9DF4-C507-041F3B206B06}" v="122" dt="2026-04-21T07:16:42.773"/>
    <p1510:client id="{574EBF73-61FC-7A2B-6FE2-15D0D86BD116}" v="109" dt="2026-04-21T08:44:47.833"/>
    <p1510:client id="{5FA0A0A8-71AC-9691-7A24-CDDBC4976218}" v="6" dt="2026-04-21T08:52:31.701"/>
    <p1510:client id="{69275C5D-BCF6-3B94-23E5-8137C40CE233}" v="356" dt="2026-04-21T06:40:13.990"/>
    <p1510:client id="{79AC6D28-CF84-452F-87F1-DC092B369DE8}" v="7" dt="2026-04-21T09:16:41.315"/>
    <p1510:client id="{8FC57B8A-C5C9-E353-0BA5-02F72FB58BD1}" v="1" dt="2026-04-21T09:03:07.250"/>
    <p1510:client id="{90153649-163D-127B-60DC-5E1D364BC2E4}" v="277" dt="2026-04-21T08:55:41.991"/>
    <p1510:client id="{91726B21-A594-7A92-CCC2-EC1CED749B72}" v="34" dt="2026-04-21T06:28:05.673"/>
    <p1510:client id="{92545F31-F14C-5F17-0A2F-CF1646DA20A0}" v="48" dt="2026-04-21T07:01:16.377"/>
    <p1510:client id="{BF9F9DAF-81E1-0FB1-5920-59FFAAE6EBC8}" v="358" dt="2026-04-21T09:10:36.305"/>
    <p1510:client id="{C96EABA9-1BE2-828C-DB24-E9397B438A04}" v="16" dt="2026-04-21T08:47:09.850"/>
    <p1510:client id="{DEDB488E-9652-5100-66EF-8A4AF4BF55AA}" v="647" dt="2026-04-21T08:29:34.991"/>
    <p1510:client id="{FFE7CB49-08AD-442F-9634-C7CEAADA3600}" v="20" dt="2026-04-21T13:40:53.3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4678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07008"/>
          </a:xfrm>
          <a:prstGeom prst="rect">
            <a:avLst/>
          </a:prstGeom>
          <a:solidFill>
            <a:srgbClr val="E8D9C8"/>
          </a:solidFill>
          <a:ln w="12700">
            <a:solidFill>
              <a:srgbClr val="E8D9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92608" y="155448"/>
            <a:ext cx="1508760" cy="2743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1A5C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92608" y="1554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>
                <a:latin typeface="Calibri" pitchFamily="34" charset="0"/>
                <a:ea typeface="Calibri" pitchFamily="34" charset="-122"/>
                <a:cs typeface="Calibri" pitchFamily="34" charset="-120"/>
              </a:rPr>
              <a:t>SENIOR DEVELOPER</a:t>
            </a:r>
            <a:endParaRPr lang="en-US" sz="800"/>
          </a:p>
        </p:txBody>
      </p:sp>
      <p:sp>
        <p:nvSpPr>
          <p:cNvPr id="5" name="Text 3"/>
          <p:cNvSpPr/>
          <p:nvPr/>
        </p:nvSpPr>
        <p:spPr>
          <a:xfrm>
            <a:off x="1920240" y="73152"/>
            <a:ext cx="6949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latin typeface="Calibri"/>
                <a:ea typeface="Calibri"/>
                <a:cs typeface="Calibri"/>
              </a:rPr>
              <a:t>Ritu Kumari  |  Senior ServiceNow Developer</a:t>
            </a:r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292608" y="6583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>
                <a:latin typeface="Calibri"/>
                <a:ea typeface="Calibri"/>
                <a:cs typeface="Calibri"/>
              </a:rPr>
              <a:t>8 years ServiceNow  ·  6 years Senior Dev   ·   CSA  ·  CAD  ·  CIS-IRM  ·  CIS-CSM  ·  CIS-ITSM</a:t>
            </a:r>
          </a:p>
        </p:txBody>
      </p:sp>
      <p:sp>
        <p:nvSpPr>
          <p:cNvPr id="7" name="Shape 5"/>
          <p:cNvSpPr/>
          <p:nvPr/>
        </p:nvSpPr>
        <p:spPr>
          <a:xfrm>
            <a:off x="0" y="1207008"/>
            <a:ext cx="9144000" cy="36576"/>
          </a:xfrm>
          <a:prstGeom prst="rect">
            <a:avLst/>
          </a:prstGeom>
          <a:solidFill>
            <a:srgbClr val="FFAB28"/>
          </a:solidFill>
          <a:ln w="12700">
            <a:solidFill>
              <a:srgbClr val="FFAB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28600" y="1517904"/>
            <a:ext cx="768096" cy="768096"/>
          </a:xfrm>
          <a:prstGeom prst="ellipse">
            <a:avLst/>
          </a:prstGeom>
          <a:solidFill>
            <a:srgbClr val="FDF8F4"/>
          </a:solidFill>
          <a:ln w="31750">
            <a:solidFill>
              <a:srgbClr val="FFAB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36133" y="1537106"/>
            <a:ext cx="219456" cy="219456"/>
          </a:xfrm>
          <a:prstGeom prst="ellipse">
            <a:avLst/>
          </a:prstGeom>
          <a:solidFill>
            <a:srgbClr val="FD4E59"/>
          </a:solidFill>
          <a:ln w="12700">
            <a:solidFill>
              <a:srgbClr val="FD4E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28600" y="15361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latin typeface="Calibri" pitchFamily="34" charset="0"/>
                <a:ea typeface="Calibri" pitchFamily="34" charset="-122"/>
                <a:cs typeface="Calibri" pitchFamily="34" charset="-120"/>
              </a:rPr>
              <a:t>⊞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1088136" y="1536192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&amp; Configuration</a:t>
            </a:r>
            <a:endParaRPr lang="en-US" sz="1300"/>
          </a:p>
        </p:txBody>
      </p:sp>
      <p:sp>
        <p:nvSpPr>
          <p:cNvPr id="12" name="Shape 10"/>
          <p:cNvSpPr/>
          <p:nvPr/>
        </p:nvSpPr>
        <p:spPr>
          <a:xfrm>
            <a:off x="228600" y="2359152"/>
            <a:ext cx="2734056" cy="36576"/>
          </a:xfrm>
          <a:prstGeom prst="rect">
            <a:avLst/>
          </a:prstGeom>
          <a:solidFill>
            <a:srgbClr val="FFAB28"/>
          </a:solidFill>
          <a:ln w="12700">
            <a:solidFill>
              <a:srgbClr val="FFAB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035808" y="1335024"/>
            <a:ext cx="22860" cy="3621024"/>
          </a:xfrm>
          <a:prstGeom prst="rect">
            <a:avLst/>
          </a:prstGeom>
          <a:solidFill>
            <a:srgbClr val="FFAB28">
              <a:alpha val="50000"/>
            </a:srgbClr>
          </a:solidFill>
          <a:ln w="12700">
            <a:solidFill>
              <a:srgbClr val="FFAB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65176" y="2578608"/>
            <a:ext cx="109728" cy="109728"/>
          </a:xfrm>
          <a:prstGeom prst="rect">
            <a:avLst/>
          </a:prstGeom>
          <a:solidFill>
            <a:srgbClr val="FD4E59"/>
          </a:solidFill>
          <a:ln w="12700">
            <a:solidFill>
              <a:srgbClr val="FD4E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29768" y="2487168"/>
            <a:ext cx="2532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50">
                <a:latin typeface="Calibri"/>
                <a:ea typeface="Calibri"/>
                <a:cs typeface="Calibri"/>
              </a:rPr>
              <a:t>Built and configured ServiceNow solutions across ITSM, and GRC and Custom Applications.</a:t>
            </a:r>
          </a:p>
        </p:txBody>
      </p:sp>
      <p:sp>
        <p:nvSpPr>
          <p:cNvPr id="16" name="Shape 14"/>
          <p:cNvSpPr/>
          <p:nvPr/>
        </p:nvSpPr>
        <p:spPr>
          <a:xfrm>
            <a:off x="265176" y="3145536"/>
            <a:ext cx="109728" cy="109728"/>
          </a:xfrm>
          <a:prstGeom prst="rect">
            <a:avLst/>
          </a:prstGeom>
          <a:solidFill>
            <a:srgbClr val="FD4E59"/>
          </a:solidFill>
          <a:ln w="12700">
            <a:solidFill>
              <a:srgbClr val="FD4E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29768" y="3054096"/>
            <a:ext cx="2532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>
                <a:latin typeface="Calibri" pitchFamily="34" charset="0"/>
                <a:ea typeface="Calibri" pitchFamily="34" charset="-122"/>
                <a:cs typeface="Calibri" pitchFamily="34" charset="-120"/>
              </a:rPr>
              <a:t>Developed Flow Designer flows, Business Rules, Script Includes, Client Scripts and UI Actions.</a:t>
            </a:r>
            <a:endParaRPr lang="en-US" sz="950"/>
          </a:p>
        </p:txBody>
      </p:sp>
      <p:sp>
        <p:nvSpPr>
          <p:cNvPr id="18" name="Shape 16"/>
          <p:cNvSpPr/>
          <p:nvPr/>
        </p:nvSpPr>
        <p:spPr>
          <a:xfrm>
            <a:off x="265176" y="3712464"/>
            <a:ext cx="109728" cy="109728"/>
          </a:xfrm>
          <a:prstGeom prst="rect">
            <a:avLst/>
          </a:prstGeom>
          <a:solidFill>
            <a:srgbClr val="FD4E59"/>
          </a:solidFill>
          <a:ln w="12700">
            <a:solidFill>
              <a:srgbClr val="FD4E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29768" y="3621024"/>
            <a:ext cx="2532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50">
                <a:latin typeface="Calibri"/>
                <a:ea typeface="Calibri"/>
                <a:cs typeface="Calibri"/>
              </a:rPr>
              <a:t>Created Service Portal widgets, UI Builder pages and Reporting on Platform Analytics</a:t>
            </a:r>
          </a:p>
          <a:p>
            <a:endParaRPr lang="en-US" sz="950">
              <a:latin typeface="Calibri"/>
              <a:ea typeface="Calibri"/>
              <a:cs typeface="Calibri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29768" y="4187952"/>
            <a:ext cx="2532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950">
              <a:latin typeface="Calibri"/>
              <a:ea typeface="Calibri"/>
              <a:cs typeface="Calibri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246120" y="1517904"/>
            <a:ext cx="768096" cy="768096"/>
          </a:xfrm>
          <a:prstGeom prst="ellipse">
            <a:avLst/>
          </a:prstGeom>
          <a:solidFill>
            <a:srgbClr val="FDF8F4"/>
          </a:solidFill>
          <a:ln w="31750">
            <a:solidFill>
              <a:srgbClr val="FFAB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353653" y="1537106"/>
            <a:ext cx="219456" cy="219456"/>
          </a:xfrm>
          <a:prstGeom prst="ellipse">
            <a:avLst/>
          </a:prstGeom>
          <a:solidFill>
            <a:srgbClr val="FD4E59"/>
          </a:solidFill>
          <a:ln w="12700">
            <a:solidFill>
              <a:srgbClr val="FD4E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46120" y="15361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600"/>
          </a:p>
        </p:txBody>
      </p:sp>
      <p:sp>
        <p:nvSpPr>
          <p:cNvPr id="25" name="Text 23"/>
          <p:cNvSpPr/>
          <p:nvPr/>
        </p:nvSpPr>
        <p:spPr>
          <a:xfrm>
            <a:off x="4105656" y="1536192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latin typeface="Calibri"/>
                <a:ea typeface="Calibri"/>
                <a:cs typeface="Calibri"/>
              </a:rPr>
              <a:t>Project Experience</a:t>
            </a:r>
          </a:p>
        </p:txBody>
      </p:sp>
      <p:sp>
        <p:nvSpPr>
          <p:cNvPr id="26" name="Shape 24"/>
          <p:cNvSpPr/>
          <p:nvPr/>
        </p:nvSpPr>
        <p:spPr>
          <a:xfrm>
            <a:off x="3246120" y="2359152"/>
            <a:ext cx="2734056" cy="36576"/>
          </a:xfrm>
          <a:prstGeom prst="rect">
            <a:avLst/>
          </a:prstGeom>
          <a:solidFill>
            <a:srgbClr val="FFAB28"/>
          </a:solidFill>
          <a:ln w="12700">
            <a:solidFill>
              <a:srgbClr val="FFAB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053328" y="1335024"/>
            <a:ext cx="22860" cy="3621024"/>
          </a:xfrm>
          <a:prstGeom prst="rect">
            <a:avLst/>
          </a:prstGeom>
          <a:solidFill>
            <a:srgbClr val="FFAB28">
              <a:alpha val="50000"/>
            </a:srgbClr>
          </a:solidFill>
          <a:ln w="12700">
            <a:solidFill>
              <a:srgbClr val="FFAB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282696" y="2578608"/>
            <a:ext cx="109728" cy="109728"/>
          </a:xfrm>
          <a:prstGeom prst="rect">
            <a:avLst/>
          </a:prstGeom>
          <a:solidFill>
            <a:srgbClr val="FD4E59"/>
          </a:solidFill>
          <a:ln w="12700">
            <a:solidFill>
              <a:srgbClr val="FD4E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447288" y="2487168"/>
            <a:ext cx="2532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50">
                <a:ea typeface="+mn-lt"/>
                <a:cs typeface="+mn-lt"/>
              </a:rPr>
              <a:t>Worked as Technical Lead on ServiceNow IRM modules, delivering scalable solutions across Policy &amp; Compliance, Audit Management, and Business Continuity Management.</a:t>
            </a:r>
            <a:r>
              <a:rPr lang="en-US" sz="950">
                <a:latin typeface="Calibri"/>
                <a:ea typeface="Calibri"/>
                <a:cs typeface="Calibri"/>
              </a:rPr>
              <a:t> </a:t>
            </a:r>
          </a:p>
          <a:p>
            <a:endParaRPr lang="en-US" sz="950">
              <a:ea typeface="Calibri"/>
              <a:cs typeface="Calibri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282696" y="3145536"/>
            <a:ext cx="109728" cy="109728"/>
          </a:xfrm>
          <a:prstGeom prst="rect">
            <a:avLst/>
          </a:prstGeom>
          <a:solidFill>
            <a:srgbClr val="FD4E59"/>
          </a:solidFill>
          <a:ln w="12700">
            <a:solidFill>
              <a:srgbClr val="FD4E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456217" y="3089814"/>
            <a:ext cx="2523959" cy="530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50">
                <a:ea typeface="+mn-lt"/>
                <a:cs typeface="+mn-lt"/>
              </a:rPr>
              <a:t>Designed and implemented Compliance Case Management with custom workflows, automation, and data models aligned to business requirements</a:t>
            </a:r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282696" y="3712464"/>
            <a:ext cx="109728" cy="109728"/>
          </a:xfrm>
          <a:prstGeom prst="rect">
            <a:avLst/>
          </a:prstGeom>
          <a:solidFill>
            <a:srgbClr val="FD4E59"/>
          </a:solidFill>
          <a:ln w="12700">
            <a:solidFill>
              <a:srgbClr val="FD4E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447288" y="3621024"/>
            <a:ext cx="2532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50">
                <a:ea typeface="+mn-lt"/>
                <a:cs typeface="+mn-lt"/>
              </a:rPr>
              <a:t>Developed and enhanced custom applications within the IRM space, ensuring performance optimization, security (ACLs), and maintainability.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3282696" y="4279392"/>
            <a:ext cx="109728" cy="109728"/>
          </a:xfrm>
          <a:prstGeom prst="rect">
            <a:avLst/>
          </a:prstGeom>
          <a:solidFill>
            <a:srgbClr val="FD4E59"/>
          </a:solidFill>
          <a:ln w="12700">
            <a:solidFill>
              <a:srgbClr val="FD4E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447288" y="4187952"/>
            <a:ext cx="2532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50">
                <a:ea typeface="+mn-lt"/>
                <a:cs typeface="+mn-lt"/>
              </a:rPr>
              <a:t>Collaborated with cross-functional stakeholders to drive governance, streamline risk processes, and ensure successful end-to-end delivery</a:t>
            </a:r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263640" y="1517904"/>
            <a:ext cx="768096" cy="768096"/>
          </a:xfrm>
          <a:prstGeom prst="ellipse">
            <a:avLst/>
          </a:prstGeom>
          <a:solidFill>
            <a:srgbClr val="FDF8F4"/>
          </a:solidFill>
          <a:ln w="31750">
            <a:solidFill>
              <a:srgbClr val="FFAB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371173" y="1537106"/>
            <a:ext cx="219456" cy="219456"/>
          </a:xfrm>
          <a:prstGeom prst="ellipse">
            <a:avLst/>
          </a:prstGeom>
          <a:solidFill>
            <a:srgbClr val="FD4E59"/>
          </a:solidFill>
          <a:ln w="12700">
            <a:solidFill>
              <a:srgbClr val="FD4E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263640" y="15361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1600"/>
          </a:p>
        </p:txBody>
      </p:sp>
      <p:sp>
        <p:nvSpPr>
          <p:cNvPr id="39" name="Text 37"/>
          <p:cNvSpPr/>
          <p:nvPr/>
        </p:nvSpPr>
        <p:spPr>
          <a:xfrm>
            <a:off x="7123176" y="1536192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latin typeface="Calibri" pitchFamily="34" charset="0"/>
                <a:ea typeface="Calibri" pitchFamily="34" charset="-122"/>
                <a:cs typeface="Calibri" pitchFamily="34" charset="-120"/>
              </a:rPr>
              <a:t>Skills Coverage</a:t>
            </a:r>
            <a:endParaRPr lang="en-US" sz="1300"/>
          </a:p>
        </p:txBody>
      </p:sp>
      <p:sp>
        <p:nvSpPr>
          <p:cNvPr id="40" name="Shape 38"/>
          <p:cNvSpPr/>
          <p:nvPr/>
        </p:nvSpPr>
        <p:spPr>
          <a:xfrm>
            <a:off x="6263640" y="2359152"/>
            <a:ext cx="2734056" cy="36576"/>
          </a:xfrm>
          <a:prstGeom prst="rect">
            <a:avLst/>
          </a:prstGeom>
          <a:solidFill>
            <a:srgbClr val="FFAB28"/>
          </a:solidFill>
          <a:ln w="12700">
            <a:solidFill>
              <a:srgbClr val="FFAB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300216" y="2578608"/>
            <a:ext cx="109728" cy="109728"/>
          </a:xfrm>
          <a:prstGeom prst="rect">
            <a:avLst/>
          </a:prstGeom>
          <a:solidFill>
            <a:srgbClr val="FD4E59"/>
          </a:solidFill>
          <a:ln w="12700">
            <a:solidFill>
              <a:srgbClr val="FD4E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473737" y="2531816"/>
            <a:ext cx="2523959" cy="521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50">
                <a:latin typeface="Calibri"/>
                <a:ea typeface="Calibri"/>
                <a:cs typeface="Calibri"/>
              </a:rPr>
              <a:t>ITSM · CSM · GRC · Flow Designer · Integrations</a:t>
            </a:r>
          </a:p>
        </p:txBody>
      </p:sp>
      <p:sp>
        <p:nvSpPr>
          <p:cNvPr id="43" name="Shape 41"/>
          <p:cNvSpPr/>
          <p:nvPr/>
        </p:nvSpPr>
        <p:spPr>
          <a:xfrm>
            <a:off x="6300216" y="3145536"/>
            <a:ext cx="109728" cy="109728"/>
          </a:xfrm>
          <a:prstGeom prst="rect">
            <a:avLst/>
          </a:prstGeom>
          <a:solidFill>
            <a:srgbClr val="FD4E59"/>
          </a:solidFill>
          <a:ln w="12700">
            <a:solidFill>
              <a:srgbClr val="FD4E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464808" y="3054096"/>
            <a:ext cx="2532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50">
                <a:latin typeface="Calibri"/>
                <a:ea typeface="Calibri"/>
                <a:cs typeface="Calibri"/>
              </a:rPr>
              <a:t>Platform Analytics· UI Builder · Service Portal · Catalog</a:t>
            </a:r>
          </a:p>
        </p:txBody>
      </p:sp>
      <p:sp>
        <p:nvSpPr>
          <p:cNvPr id="45" name="Shape 43"/>
          <p:cNvSpPr/>
          <p:nvPr/>
        </p:nvSpPr>
        <p:spPr>
          <a:xfrm>
            <a:off x="6300216" y="3712464"/>
            <a:ext cx="109728" cy="109728"/>
          </a:xfrm>
          <a:prstGeom prst="rect">
            <a:avLst/>
          </a:prstGeom>
          <a:solidFill>
            <a:srgbClr val="FD4E59"/>
          </a:solidFill>
          <a:ln w="12700">
            <a:solidFill>
              <a:srgbClr val="FD4E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464808" y="3621024"/>
            <a:ext cx="2532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50">
                <a:latin typeface="Calibri"/>
                <a:ea typeface="Calibri"/>
                <a:cs typeface="Calibri"/>
              </a:rPr>
              <a:t>Update Set Deployment. </a:t>
            </a:r>
            <a:r>
              <a:rPr lang="en-US" sz="950">
                <a:ea typeface="+mn-lt"/>
                <a:cs typeface="+mn-lt"/>
              </a:rPr>
              <a:t>Custom application development (Scoped Apps). Data modeling (tables, dictionary, relationships). Reusable and modular design (Script Includes, APIs)</a:t>
            </a:r>
            <a:endParaRPr lang="en-US" sz="950"/>
          </a:p>
        </p:txBody>
      </p:sp>
      <p:sp>
        <p:nvSpPr>
          <p:cNvPr id="47" name="Shape 45"/>
          <p:cNvSpPr/>
          <p:nvPr/>
        </p:nvSpPr>
        <p:spPr>
          <a:xfrm>
            <a:off x="6273428" y="4288321"/>
            <a:ext cx="100798" cy="100799"/>
          </a:xfrm>
          <a:prstGeom prst="rect">
            <a:avLst/>
          </a:prstGeom>
          <a:solidFill>
            <a:srgbClr val="FD4E59"/>
          </a:solidFill>
          <a:ln w="12700">
            <a:solidFill>
              <a:srgbClr val="FD4E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473737" y="4277248"/>
            <a:ext cx="2523959" cy="45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50">
                <a:ea typeface="+mn-lt"/>
                <a:cs typeface="+mn-lt"/>
              </a:rPr>
              <a:t>Server-side scripting.</a:t>
            </a:r>
            <a:r>
              <a:rPr lang="en-US" sz="950">
                <a:latin typeface="Calibri"/>
                <a:ea typeface="Calibri"/>
                <a:cs typeface="Calibri"/>
              </a:rPr>
              <a:t> </a:t>
            </a:r>
            <a:r>
              <a:rPr lang="en-US" sz="950">
                <a:ea typeface="+mn-lt"/>
                <a:cs typeface="+mn-lt"/>
              </a:rPr>
              <a:t>Client-side scripting.</a:t>
            </a:r>
            <a:r>
              <a:rPr lang="en-US" sz="950">
                <a:latin typeface="Calibri"/>
                <a:ea typeface="Calibri"/>
                <a:cs typeface="Calibri"/>
              </a:rPr>
              <a:t> ACL. Transform Map. ATF · CMDB</a:t>
            </a:r>
            <a:endParaRPr lang="en-US" sz="950">
              <a:ea typeface="Calibri"/>
              <a:cs typeface="Calibri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0" y="4736592"/>
            <a:ext cx="9144000" cy="228600"/>
          </a:xfrm>
          <a:prstGeom prst="rect">
            <a:avLst/>
          </a:prstGeom>
          <a:solidFill>
            <a:srgbClr val="E8D9C8"/>
          </a:solidFill>
          <a:ln w="12700">
            <a:solidFill>
              <a:srgbClr val="E8D9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164592" y="4745736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>
                <a:latin typeface="Calibri"/>
                <a:ea typeface="Calibri"/>
                <a:cs typeface="Calibri"/>
              </a:rPr>
              <a:t>Skills: ITSM  ·  CSM .  GRC  ·  Integration  ·   Flow Designer  ·  Custom Applications  ·  UI Builder  ·  Service Portal  ·  Service Catalog   |   Certs: CSA · CAD · CIS-ITSM · CIS-CSM</a:t>
            </a:r>
          </a:p>
        </p:txBody>
      </p:sp>
      <p:sp>
        <p:nvSpPr>
          <p:cNvPr id="51" name="Text 49"/>
          <p:cNvSpPr/>
          <p:nvPr/>
        </p:nvSpPr>
        <p:spPr>
          <a:xfrm>
            <a:off x="6583680" y="4992624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>
                <a:latin typeface="Calibri" pitchFamily="34" charset="0"/>
                <a:ea typeface="Calibri" pitchFamily="34" charset="-122"/>
                <a:cs typeface="Calibri" pitchFamily="34" charset="-120"/>
              </a:rPr>
              <a:t>© 2025 Copyright Genpact. All Rights Reserved</a:t>
            </a:r>
            <a:endParaRPr lang="en-US" sz="700"/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DAEF30BD-9311-AA91-F0FE-D5863D0C56A7}"/>
              </a:ext>
            </a:extLst>
          </p:cNvPr>
          <p:cNvSpPr/>
          <p:nvPr/>
        </p:nvSpPr>
        <p:spPr>
          <a:xfrm>
            <a:off x="265176" y="4185736"/>
            <a:ext cx="109728" cy="109728"/>
          </a:xfrm>
          <a:prstGeom prst="rect">
            <a:avLst/>
          </a:prstGeom>
          <a:solidFill>
            <a:srgbClr val="FD4E59"/>
          </a:solidFill>
          <a:ln w="12700">
            <a:solidFill>
              <a:srgbClr val="FD4E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17">
            <a:extLst>
              <a:ext uri="{FF2B5EF4-FFF2-40B4-BE49-F238E27FC236}">
                <a16:creationId xmlns:a16="http://schemas.microsoft.com/office/drawing/2014/main" id="{A09F48FB-0570-25E5-24AD-F9A111BD01B3}"/>
              </a:ext>
            </a:extLst>
          </p:cNvPr>
          <p:cNvSpPr/>
          <p:nvPr/>
        </p:nvSpPr>
        <p:spPr>
          <a:xfrm>
            <a:off x="438696" y="4183593"/>
            <a:ext cx="2515029" cy="280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50">
                <a:ea typeface="+mn-lt"/>
                <a:cs typeface="+mn-lt"/>
              </a:rPr>
              <a:t>Designed and developed REST integrations between ServiceNow and external systems</a:t>
            </a:r>
            <a:endParaRPr lang="en-US"/>
          </a:p>
          <a:p>
            <a:endParaRPr lang="en-US" sz="950">
              <a:latin typeface="Calibri"/>
              <a:ea typeface="Calibri"/>
              <a:cs typeface="Calibri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83071562F0DF3428E5000D7EC0193C7" ma:contentTypeVersion="10" ma:contentTypeDescription="Create a new document." ma:contentTypeScope="" ma:versionID="14f82f84384c4b73a7f3f4a1e7d9c01d">
  <xsd:schema xmlns:xsd="http://www.w3.org/2001/XMLSchema" xmlns:xs="http://www.w3.org/2001/XMLSchema" xmlns:p="http://schemas.microsoft.com/office/2006/metadata/properties" xmlns:ns2="ea7a0903-2dc8-4e8e-85d1-5ccc30485d17" targetNamespace="http://schemas.microsoft.com/office/2006/metadata/properties" ma:root="true" ma:fieldsID="202edcaf80b330a462b347cf79e65c50" ns2:_="">
    <xsd:import namespace="ea7a0903-2dc8-4e8e-85d1-5ccc30485d1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7a0903-2dc8-4e8e-85d1-5ccc30485d1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cc962de5-690c-40f6-9925-46ff4f3fc18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a7a0903-2dc8-4e8e-85d1-5ccc30485d1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5EF1524-FBED-461F-93B4-65B832BFA27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3BB6568-71CD-47E3-893D-F83CC358FB14}"/>
</file>

<file path=customXml/itemProps3.xml><?xml version="1.0" encoding="utf-8"?>
<ds:datastoreItem xmlns:ds="http://schemas.openxmlformats.org/officeDocument/2006/customXml" ds:itemID="{32D7CB4E-82BF-4B6F-8A3D-E0A5D8D99A38}">
  <ds:schemaRefs>
    <ds:schemaRef ds:uri="ea7a0903-2dc8-4e8e-85d1-5ccc30485d17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On-screen Show (16:9)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ServiceNow Skill Profiles – Genpact ATS</dc:title>
  <dc:subject>PptxGenJS Presentation</dc:subject>
  <dc:creator>PptxGenJS</dc:creator>
  <cp:revision>16</cp:revision>
  <dcterms:created xsi:type="dcterms:W3CDTF">2026-04-18T06:13:21Z</dcterms:created>
  <dcterms:modified xsi:type="dcterms:W3CDTF">2026-04-21T13:42:12Z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0x010100783071562F0DF3428E5000D7EC0193C7</vt:lpwstr>
  </property>
</Properties>
</file>