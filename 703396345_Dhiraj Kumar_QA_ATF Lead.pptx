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61" r:id="rId5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73064C-F487-65DD-ADDD-8CF66A39CFCD}" v="42" dt="2026-04-21T14:30:27.541"/>
    <p1510:client id="{BEDEDECF-D922-E8B2-3BCC-DA7995DB1E12}" v="39" dt="2026-04-21T08:54:53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Dhiraj" userId="7489c596-7e10-43c2-aec6-82894950d38b" providerId="ADAL" clId="{E80B4CA6-4693-4E25-AC18-75FAAF7A1149}"/>
    <pc:docChg chg="modSld">
      <pc:chgData name="Kumar, Dhiraj" userId="7489c596-7e10-43c2-aec6-82894950d38b" providerId="ADAL" clId="{E80B4CA6-4693-4E25-AC18-75FAAF7A1149}" dt="2026-04-21T12:21:16.532" v="16" actId="20577"/>
      <pc:docMkLst>
        <pc:docMk/>
      </pc:docMkLst>
      <pc:sldChg chg="modSp mod">
        <pc:chgData name="Kumar, Dhiraj" userId="7489c596-7e10-43c2-aec6-82894950d38b" providerId="ADAL" clId="{E80B4CA6-4693-4E25-AC18-75FAAF7A1149}" dt="2026-04-21T12:21:16.532" v="16" actId="20577"/>
        <pc:sldMkLst>
          <pc:docMk/>
          <pc:sldMk cId="0" sldId="261"/>
        </pc:sldMkLst>
        <pc:spChg chg="mod">
          <ac:chgData name="Kumar, Dhiraj" userId="7489c596-7e10-43c2-aec6-82894950d38b" providerId="ADAL" clId="{E80B4CA6-4693-4E25-AC18-75FAAF7A1149}" dt="2026-04-21T12:21:16.532" v="16" actId="20577"/>
          <ac:spMkLst>
            <pc:docMk/>
            <pc:sldMk cId="0" sldId="261"/>
            <ac:spMk id="5" creationId="{00000000-0000-0000-0000-000000000000}"/>
          </ac:spMkLst>
        </pc:spChg>
      </pc:sldChg>
    </pc:docChg>
  </pc:docChgLst>
  <pc:docChgLst>
    <pc:chgData name="Sharma, Shubham" userId="S::703432957@genpact.com::3cc21c6e-c957-49d5-99a7-3dd84181f471" providerId="AD" clId="Web-{5F73064C-F487-65DD-ADDD-8CF66A39CFCD}"/>
    <pc:docChg chg="modSld">
      <pc:chgData name="Sharma, Shubham" userId="S::703432957@genpact.com::3cc21c6e-c957-49d5-99a7-3dd84181f471" providerId="AD" clId="Web-{5F73064C-F487-65DD-ADDD-8CF66A39CFCD}" dt="2026-04-21T14:30:27.541" v="41" actId="20577"/>
      <pc:docMkLst>
        <pc:docMk/>
      </pc:docMkLst>
      <pc:sldChg chg="modSp">
        <pc:chgData name="Sharma, Shubham" userId="S::703432957@genpact.com::3cc21c6e-c957-49d5-99a7-3dd84181f471" providerId="AD" clId="Web-{5F73064C-F487-65DD-ADDD-8CF66A39CFCD}" dt="2026-04-21T14:30:27.541" v="41" actId="20577"/>
        <pc:sldMkLst>
          <pc:docMk/>
          <pc:sldMk cId="0" sldId="261"/>
        </pc:sldMkLst>
        <pc:spChg chg="mod">
          <ac:chgData name="Sharma, Shubham" userId="S::703432957@genpact.com::3cc21c6e-c957-49d5-99a7-3dd84181f471" providerId="AD" clId="Web-{5F73064C-F487-65DD-ADDD-8CF66A39CFCD}" dt="2026-04-21T14:28:21.392" v="5" actId="20577"/>
          <ac:spMkLst>
            <pc:docMk/>
            <pc:sldMk cId="0" sldId="261"/>
            <ac:spMk id="46" creationId="{00000000-0000-0000-0000-000000000000}"/>
          </ac:spMkLst>
        </pc:spChg>
        <pc:spChg chg="mod">
          <ac:chgData name="Sharma, Shubham" userId="S::703432957@genpact.com::3cc21c6e-c957-49d5-99a7-3dd84181f471" providerId="AD" clId="Web-{5F73064C-F487-65DD-ADDD-8CF66A39CFCD}" dt="2026-04-21T14:29:22.798" v="25" actId="20577"/>
          <ac:spMkLst>
            <pc:docMk/>
            <pc:sldMk cId="0" sldId="261"/>
            <ac:spMk id="48" creationId="{00000000-0000-0000-0000-000000000000}"/>
          </ac:spMkLst>
        </pc:spChg>
        <pc:spChg chg="mod">
          <ac:chgData name="Sharma, Shubham" userId="S::703432957@genpact.com::3cc21c6e-c957-49d5-99a7-3dd84181f471" providerId="AD" clId="Web-{5F73064C-F487-65DD-ADDD-8CF66A39CFCD}" dt="2026-04-21T14:30:27.541" v="41" actId="20577"/>
          <ac:spMkLst>
            <pc:docMk/>
            <pc:sldMk cId="0" sldId="261"/>
            <ac:spMk id="5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8BE84-C2CF-4CFE-B350-77A25867A601}" type="datetimeFigureOut">
              <a:t>4/21/2026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FDF64A-EFB8-46AC-AC92-E704CC2B315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590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630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609344"/>
          </a:xfrm>
          <a:prstGeom prst="rect">
            <a:avLst/>
          </a:prstGeom>
          <a:solidFill>
            <a:srgbClr val="E8D9C8"/>
          </a:solidFill>
          <a:ln w="12700">
            <a:solidFill>
              <a:srgbClr val="E8D9C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390144" y="207264"/>
            <a:ext cx="2011680" cy="3657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1A5C5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390144" y="2072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kern="0" spc="200">
                <a:latin typeface="Calibri" pitchFamily="34" charset="0"/>
                <a:ea typeface="Calibri" pitchFamily="34" charset="-122"/>
                <a:cs typeface="Calibri" pitchFamily="34" charset="-120"/>
              </a:rPr>
              <a:t>ATF / QA ENGINEER</a:t>
            </a:r>
            <a:endParaRPr lang="en-US" sz="1067"/>
          </a:p>
        </p:txBody>
      </p:sp>
      <p:sp>
        <p:nvSpPr>
          <p:cNvPr id="5" name="Text 3"/>
          <p:cNvSpPr/>
          <p:nvPr/>
        </p:nvSpPr>
        <p:spPr>
          <a:xfrm>
            <a:off x="2560320" y="97536"/>
            <a:ext cx="926592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>
                <a:latin typeface="Calibri"/>
                <a:ea typeface="Calibri"/>
                <a:cs typeface="Calibri"/>
              </a:rPr>
              <a:t> Dhiraj Kumar | ServiceNow ATF / QA Engineer</a:t>
            </a:r>
            <a:endParaRPr lang="en-US" sz="32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0144" y="877824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Calibri"/>
                <a:ea typeface="Calibri"/>
                <a:cs typeface="Calibri"/>
              </a:rPr>
              <a:t>10+ years ServiceNow QA  ·  5 years ATF   ·   CSA · ATF Certified</a:t>
            </a:r>
          </a:p>
        </p:txBody>
      </p:sp>
      <p:sp>
        <p:nvSpPr>
          <p:cNvPr id="7" name="Shape 5"/>
          <p:cNvSpPr/>
          <p:nvPr/>
        </p:nvSpPr>
        <p:spPr>
          <a:xfrm>
            <a:off x="0" y="1609344"/>
            <a:ext cx="12192000" cy="48768"/>
          </a:xfrm>
          <a:prstGeom prst="rect">
            <a:avLst/>
          </a:prstGeom>
          <a:solidFill>
            <a:srgbClr val="FFAB28"/>
          </a:solidFill>
          <a:ln w="12700">
            <a:solidFill>
              <a:srgbClr val="FFAB2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8" name="Shape 6"/>
          <p:cNvSpPr/>
          <p:nvPr/>
        </p:nvSpPr>
        <p:spPr>
          <a:xfrm>
            <a:off x="304800" y="2023872"/>
            <a:ext cx="1024128" cy="1024128"/>
          </a:xfrm>
          <a:prstGeom prst="ellipse">
            <a:avLst/>
          </a:prstGeom>
          <a:solidFill>
            <a:srgbClr val="FDF8F4"/>
          </a:solidFill>
          <a:ln w="31750">
            <a:solidFill>
              <a:srgbClr val="FFAB2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9" name="Shape 7"/>
          <p:cNvSpPr/>
          <p:nvPr/>
        </p:nvSpPr>
        <p:spPr>
          <a:xfrm>
            <a:off x="448177" y="2049475"/>
            <a:ext cx="292608" cy="292608"/>
          </a:xfrm>
          <a:prstGeom prst="ellipse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304800" y="2048256"/>
            <a:ext cx="1024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 b="1">
                <a:latin typeface="Calibri" pitchFamily="34" charset="0"/>
                <a:ea typeface="Calibri" pitchFamily="34" charset="-122"/>
                <a:cs typeface="Calibri" pitchFamily="34" charset="-120"/>
              </a:rPr>
              <a:t>⊞</a:t>
            </a:r>
            <a:endParaRPr lang="en-US" sz="2133"/>
          </a:p>
        </p:txBody>
      </p:sp>
      <p:sp>
        <p:nvSpPr>
          <p:cNvPr id="11" name="Text 9"/>
          <p:cNvSpPr/>
          <p:nvPr/>
        </p:nvSpPr>
        <p:spPr>
          <a:xfrm>
            <a:off x="1450848" y="2048256"/>
            <a:ext cx="2499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33" b="1">
                <a:latin typeface="Calibri" pitchFamily="34" charset="0"/>
                <a:ea typeface="Calibri" pitchFamily="34" charset="-122"/>
                <a:cs typeface="Calibri" pitchFamily="34" charset="-120"/>
              </a:rPr>
              <a:t>ATF, Testing &amp; QA</a:t>
            </a:r>
            <a:endParaRPr lang="en-US" sz="1733"/>
          </a:p>
        </p:txBody>
      </p:sp>
      <p:sp>
        <p:nvSpPr>
          <p:cNvPr id="12" name="Shape 10"/>
          <p:cNvSpPr/>
          <p:nvPr/>
        </p:nvSpPr>
        <p:spPr>
          <a:xfrm>
            <a:off x="304800" y="3145536"/>
            <a:ext cx="3645408" cy="48768"/>
          </a:xfrm>
          <a:prstGeom prst="rect">
            <a:avLst/>
          </a:prstGeom>
          <a:solidFill>
            <a:srgbClr val="FFAB28"/>
          </a:solidFill>
          <a:ln w="12700">
            <a:solidFill>
              <a:srgbClr val="FFAB2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3" name="Shape 11"/>
          <p:cNvSpPr/>
          <p:nvPr/>
        </p:nvSpPr>
        <p:spPr>
          <a:xfrm>
            <a:off x="4047744" y="1780032"/>
            <a:ext cx="30480" cy="4828032"/>
          </a:xfrm>
          <a:prstGeom prst="rect">
            <a:avLst/>
          </a:prstGeom>
          <a:solidFill>
            <a:srgbClr val="FFAB28">
              <a:alpha val="50000"/>
            </a:srgbClr>
          </a:solidFill>
          <a:ln w="12700">
            <a:solidFill>
              <a:srgbClr val="FFAB2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4" name="Shape 12"/>
          <p:cNvSpPr/>
          <p:nvPr/>
        </p:nvSpPr>
        <p:spPr>
          <a:xfrm>
            <a:off x="353568" y="3438144"/>
            <a:ext cx="146304" cy="146304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5" name="Text 13"/>
          <p:cNvSpPr/>
          <p:nvPr/>
        </p:nvSpPr>
        <p:spPr>
          <a:xfrm>
            <a:off x="573024" y="3316224"/>
            <a:ext cx="3377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67">
                <a:latin typeface="Calibri"/>
                <a:ea typeface="Calibri"/>
                <a:cs typeface="Calibri"/>
              </a:rPr>
              <a:t>Designed and delivered ATF test suites covering ITSM, CSM and GRC scenarios.</a:t>
            </a:r>
          </a:p>
        </p:txBody>
      </p:sp>
      <p:sp>
        <p:nvSpPr>
          <p:cNvPr id="16" name="Shape 14"/>
          <p:cNvSpPr/>
          <p:nvPr/>
        </p:nvSpPr>
        <p:spPr>
          <a:xfrm>
            <a:off x="353568" y="4194048"/>
            <a:ext cx="146304" cy="146304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7" name="Text 15"/>
          <p:cNvSpPr/>
          <p:nvPr/>
        </p:nvSpPr>
        <p:spPr>
          <a:xfrm>
            <a:off x="573024" y="4072128"/>
            <a:ext cx="3377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50">
                <a:latin typeface="Calibri"/>
                <a:ea typeface="Calibri"/>
                <a:cs typeface="Calibri"/>
              </a:rPr>
              <a:t>Built reusable ATF test step configurations, data rollback strategies, and headless browser testing patterns.</a:t>
            </a:r>
          </a:p>
        </p:txBody>
      </p:sp>
      <p:sp>
        <p:nvSpPr>
          <p:cNvPr id="18" name="Shape 16"/>
          <p:cNvSpPr/>
          <p:nvPr/>
        </p:nvSpPr>
        <p:spPr>
          <a:xfrm>
            <a:off x="353568" y="4949952"/>
            <a:ext cx="146304" cy="146304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9" name="Text 17"/>
          <p:cNvSpPr/>
          <p:nvPr/>
        </p:nvSpPr>
        <p:spPr>
          <a:xfrm>
            <a:off x="573024" y="4828032"/>
            <a:ext cx="3377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ATF regression pipeline in CI/CD with automated failure alerting and sprint traceability.</a:t>
            </a:r>
            <a:endParaRPr lang="en-US" sz="1267"/>
          </a:p>
        </p:txBody>
      </p:sp>
      <p:sp>
        <p:nvSpPr>
          <p:cNvPr id="20" name="Shape 18"/>
          <p:cNvSpPr/>
          <p:nvPr/>
        </p:nvSpPr>
        <p:spPr>
          <a:xfrm>
            <a:off x="353568" y="5705856"/>
            <a:ext cx="146304" cy="146304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1" name="Text 19"/>
          <p:cNvSpPr/>
          <p:nvPr/>
        </p:nvSpPr>
        <p:spPr>
          <a:xfrm>
            <a:off x="573024" y="5583936"/>
            <a:ext cx="3377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50">
                <a:latin typeface="Calibri"/>
                <a:ea typeface="Calibri"/>
                <a:cs typeface="Calibri"/>
              </a:rPr>
              <a:t>Executed functional, automated, regression and UAT testing across 10+ </a:t>
            </a:r>
            <a:r>
              <a:rPr lang="en-US" sz="1250" err="1">
                <a:latin typeface="Calibri"/>
                <a:ea typeface="Calibri"/>
                <a:cs typeface="Calibri"/>
              </a:rPr>
              <a:t>programmes</a:t>
            </a:r>
            <a:r>
              <a:rPr lang="en-US" sz="1250"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2" name="Shape 20"/>
          <p:cNvSpPr/>
          <p:nvPr/>
        </p:nvSpPr>
        <p:spPr>
          <a:xfrm>
            <a:off x="4328160" y="2023872"/>
            <a:ext cx="1024128" cy="1024128"/>
          </a:xfrm>
          <a:prstGeom prst="ellipse">
            <a:avLst/>
          </a:prstGeom>
          <a:solidFill>
            <a:srgbClr val="FDF8F4"/>
          </a:solidFill>
          <a:ln w="31750">
            <a:solidFill>
              <a:srgbClr val="FFAB2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3" name="Shape 21"/>
          <p:cNvSpPr/>
          <p:nvPr/>
        </p:nvSpPr>
        <p:spPr>
          <a:xfrm>
            <a:off x="4471537" y="2049475"/>
            <a:ext cx="292608" cy="292608"/>
          </a:xfrm>
          <a:prstGeom prst="ellipse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4" name="Text 22"/>
          <p:cNvSpPr/>
          <p:nvPr/>
        </p:nvSpPr>
        <p:spPr>
          <a:xfrm>
            <a:off x="4328160" y="2048256"/>
            <a:ext cx="1024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 b="1"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133"/>
          </a:p>
        </p:txBody>
      </p:sp>
      <p:sp>
        <p:nvSpPr>
          <p:cNvPr id="25" name="Text 23"/>
          <p:cNvSpPr/>
          <p:nvPr/>
        </p:nvSpPr>
        <p:spPr>
          <a:xfrm>
            <a:off x="5474208" y="2048256"/>
            <a:ext cx="2499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33" b="1">
                <a:latin typeface="Calibri" pitchFamily="34" charset="0"/>
                <a:ea typeface="Calibri" pitchFamily="34" charset="-122"/>
                <a:cs typeface="Calibri" pitchFamily="34" charset="-120"/>
              </a:rPr>
              <a:t>Project Experience (selection)</a:t>
            </a:r>
            <a:endParaRPr lang="en-US" sz="1733"/>
          </a:p>
        </p:txBody>
      </p:sp>
      <p:sp>
        <p:nvSpPr>
          <p:cNvPr id="26" name="Shape 24"/>
          <p:cNvSpPr/>
          <p:nvPr/>
        </p:nvSpPr>
        <p:spPr>
          <a:xfrm>
            <a:off x="4328160" y="3145536"/>
            <a:ext cx="3645408" cy="48768"/>
          </a:xfrm>
          <a:prstGeom prst="rect">
            <a:avLst/>
          </a:prstGeom>
          <a:solidFill>
            <a:srgbClr val="FFAB28"/>
          </a:solidFill>
          <a:ln w="12700">
            <a:solidFill>
              <a:srgbClr val="FFAB2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7" name="Shape 25"/>
          <p:cNvSpPr/>
          <p:nvPr/>
        </p:nvSpPr>
        <p:spPr>
          <a:xfrm>
            <a:off x="8071104" y="1780032"/>
            <a:ext cx="30480" cy="4828032"/>
          </a:xfrm>
          <a:prstGeom prst="rect">
            <a:avLst/>
          </a:prstGeom>
          <a:solidFill>
            <a:srgbClr val="FFAB28">
              <a:alpha val="50000"/>
            </a:srgbClr>
          </a:solidFill>
          <a:ln w="12700">
            <a:solidFill>
              <a:srgbClr val="FFAB2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8" name="Shape 26"/>
          <p:cNvSpPr/>
          <p:nvPr/>
        </p:nvSpPr>
        <p:spPr>
          <a:xfrm>
            <a:off x="4376928" y="3438144"/>
            <a:ext cx="146304" cy="146304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9" name="Text 27"/>
          <p:cNvSpPr/>
          <p:nvPr/>
        </p:nvSpPr>
        <p:spPr>
          <a:xfrm>
            <a:off x="4596384" y="3316224"/>
            <a:ext cx="3377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50">
                <a:latin typeface="Calibri"/>
                <a:ea typeface="Calibri"/>
                <a:cs typeface="Calibri"/>
              </a:rPr>
              <a:t>ATF lead for a ITSM  + CSM </a:t>
            </a:r>
            <a:r>
              <a:rPr lang="en-US" sz="1250" err="1">
                <a:latin typeface="Calibri"/>
                <a:ea typeface="Calibri"/>
                <a:cs typeface="Calibri"/>
              </a:rPr>
              <a:t>programme</a:t>
            </a:r>
            <a:r>
              <a:rPr lang="en-US" sz="1250">
                <a:latin typeface="Calibri"/>
                <a:ea typeface="Calibri"/>
                <a:cs typeface="Calibri"/>
              </a:rPr>
              <a:t> : 80+ test cases, zero P1 defects at go-live. Developed 30+ Test cases for GRC projects.</a:t>
            </a:r>
          </a:p>
          <a:p>
            <a:endParaRPr lang="en-US" sz="1267">
              <a:latin typeface="Calibri"/>
              <a:ea typeface="Calibri"/>
              <a:cs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376928" y="4194048"/>
            <a:ext cx="146304" cy="146304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1" name="Text 29"/>
          <p:cNvSpPr/>
          <p:nvPr/>
        </p:nvSpPr>
        <p:spPr>
          <a:xfrm>
            <a:off x="4596384" y="4072128"/>
            <a:ext cx="3377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67">
                <a:latin typeface="Calibri"/>
                <a:ea typeface="Calibri"/>
                <a:cs typeface="Calibri"/>
              </a:rPr>
              <a:t>Built integration ATF suite validating scenarios end-to-end for Regression testing.</a:t>
            </a:r>
          </a:p>
        </p:txBody>
      </p:sp>
      <p:sp>
        <p:nvSpPr>
          <p:cNvPr id="32" name="Shape 30"/>
          <p:cNvSpPr/>
          <p:nvPr/>
        </p:nvSpPr>
        <p:spPr>
          <a:xfrm>
            <a:off x="4376928" y="4949952"/>
            <a:ext cx="146304" cy="146304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3" name="Text 31"/>
          <p:cNvSpPr/>
          <p:nvPr/>
        </p:nvSpPr>
        <p:spPr>
          <a:xfrm>
            <a:off x="4596384" y="4828032"/>
            <a:ext cx="3377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QA lead for a Now Assist and Virtual Agent deployment: test coverage across 50+ conversation topics.</a:t>
            </a:r>
            <a:endParaRPr lang="en-US" sz="1267"/>
          </a:p>
        </p:txBody>
      </p:sp>
      <p:sp>
        <p:nvSpPr>
          <p:cNvPr id="34" name="Shape 32"/>
          <p:cNvSpPr/>
          <p:nvPr/>
        </p:nvSpPr>
        <p:spPr>
          <a:xfrm>
            <a:off x="4376928" y="5705856"/>
            <a:ext cx="146304" cy="146304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5" name="Text 33"/>
          <p:cNvSpPr/>
          <p:nvPr/>
        </p:nvSpPr>
        <p:spPr>
          <a:xfrm>
            <a:off x="4596384" y="5583936"/>
            <a:ext cx="3377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67">
                <a:latin typeface="Calibri"/>
                <a:ea typeface="Calibri"/>
                <a:cs typeface="Calibri"/>
              </a:rPr>
              <a:t>Performed GRC/IRM regression testing covering control assessment, policy and Compliance management workflows.</a:t>
            </a:r>
          </a:p>
        </p:txBody>
      </p:sp>
      <p:sp>
        <p:nvSpPr>
          <p:cNvPr id="36" name="Shape 34"/>
          <p:cNvSpPr/>
          <p:nvPr/>
        </p:nvSpPr>
        <p:spPr>
          <a:xfrm>
            <a:off x="8351520" y="2023872"/>
            <a:ext cx="1024128" cy="1024128"/>
          </a:xfrm>
          <a:prstGeom prst="ellipse">
            <a:avLst/>
          </a:prstGeom>
          <a:solidFill>
            <a:srgbClr val="FDF8F4"/>
          </a:solidFill>
          <a:ln w="31750">
            <a:solidFill>
              <a:srgbClr val="FFAB2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7" name="Shape 35"/>
          <p:cNvSpPr/>
          <p:nvPr/>
        </p:nvSpPr>
        <p:spPr>
          <a:xfrm>
            <a:off x="8494897" y="2049475"/>
            <a:ext cx="292608" cy="292608"/>
          </a:xfrm>
          <a:prstGeom prst="ellipse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8" name="Text 36"/>
          <p:cNvSpPr/>
          <p:nvPr/>
        </p:nvSpPr>
        <p:spPr>
          <a:xfrm>
            <a:off x="8351520" y="2048256"/>
            <a:ext cx="1024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 b="1"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133"/>
          </a:p>
        </p:txBody>
      </p:sp>
      <p:sp>
        <p:nvSpPr>
          <p:cNvPr id="39" name="Text 37"/>
          <p:cNvSpPr/>
          <p:nvPr/>
        </p:nvSpPr>
        <p:spPr>
          <a:xfrm>
            <a:off x="9497568" y="2048256"/>
            <a:ext cx="2499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33" b="1">
                <a:latin typeface="Calibri" pitchFamily="34" charset="0"/>
                <a:ea typeface="Calibri" pitchFamily="34" charset="-122"/>
                <a:cs typeface="Calibri" pitchFamily="34" charset="-120"/>
              </a:rPr>
              <a:t>Skills Coverage</a:t>
            </a:r>
            <a:endParaRPr lang="en-US" sz="1733"/>
          </a:p>
        </p:txBody>
      </p:sp>
      <p:sp>
        <p:nvSpPr>
          <p:cNvPr id="40" name="Shape 38"/>
          <p:cNvSpPr/>
          <p:nvPr/>
        </p:nvSpPr>
        <p:spPr>
          <a:xfrm>
            <a:off x="8351520" y="3145536"/>
            <a:ext cx="3645408" cy="48768"/>
          </a:xfrm>
          <a:prstGeom prst="rect">
            <a:avLst/>
          </a:prstGeom>
          <a:solidFill>
            <a:srgbClr val="FFAB28"/>
          </a:solidFill>
          <a:ln w="12700">
            <a:solidFill>
              <a:srgbClr val="FFAB2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41" name="Shape 39"/>
          <p:cNvSpPr/>
          <p:nvPr/>
        </p:nvSpPr>
        <p:spPr>
          <a:xfrm>
            <a:off x="8400288" y="3438144"/>
            <a:ext cx="146304" cy="146304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42" name="Text 40"/>
          <p:cNvSpPr/>
          <p:nvPr/>
        </p:nvSpPr>
        <p:spPr>
          <a:xfrm>
            <a:off x="8619744" y="3316224"/>
            <a:ext cx="3377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50">
                <a:latin typeface="Calibri"/>
                <a:ea typeface="Calibri"/>
                <a:cs typeface="Calibri"/>
              </a:rPr>
              <a:t>ATF · ITSM · CSM · GRC </a:t>
            </a:r>
          </a:p>
        </p:txBody>
      </p:sp>
      <p:sp>
        <p:nvSpPr>
          <p:cNvPr id="43" name="Shape 41"/>
          <p:cNvSpPr/>
          <p:nvPr/>
        </p:nvSpPr>
        <p:spPr>
          <a:xfrm>
            <a:off x="8400288" y="4194048"/>
            <a:ext cx="146304" cy="146304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44" name="Text 42"/>
          <p:cNvSpPr/>
          <p:nvPr/>
        </p:nvSpPr>
        <p:spPr>
          <a:xfrm>
            <a:off x="8619744" y="4072128"/>
            <a:ext cx="3377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67">
                <a:latin typeface="Calibri" pitchFamily="34" charset="0"/>
                <a:ea typeface="Calibri" pitchFamily="34" charset="-122"/>
                <a:cs typeface="Calibri" pitchFamily="34" charset="-120"/>
              </a:rPr>
              <a:t>Custom Applications · Service Portal · Service Catalog</a:t>
            </a:r>
            <a:endParaRPr lang="en-US" sz="1267"/>
          </a:p>
        </p:txBody>
      </p:sp>
      <p:sp>
        <p:nvSpPr>
          <p:cNvPr id="45" name="Shape 43"/>
          <p:cNvSpPr/>
          <p:nvPr/>
        </p:nvSpPr>
        <p:spPr>
          <a:xfrm>
            <a:off x="8400288" y="4949952"/>
            <a:ext cx="146304" cy="146304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46" name="Text 44"/>
          <p:cNvSpPr/>
          <p:nvPr/>
        </p:nvSpPr>
        <p:spPr>
          <a:xfrm>
            <a:off x="8619744" y="4828032"/>
            <a:ext cx="3377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50">
                <a:latin typeface="Calibri"/>
                <a:ea typeface="Calibri"/>
                <a:cs typeface="Calibri"/>
              </a:rPr>
              <a:t>Virtual Agent Chat Bot · UI Builder · CMDB</a:t>
            </a:r>
          </a:p>
        </p:txBody>
      </p:sp>
      <p:sp>
        <p:nvSpPr>
          <p:cNvPr id="47" name="Shape 45"/>
          <p:cNvSpPr/>
          <p:nvPr/>
        </p:nvSpPr>
        <p:spPr>
          <a:xfrm>
            <a:off x="8400288" y="5705856"/>
            <a:ext cx="146304" cy="146304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48" name="Text 46"/>
          <p:cNvSpPr/>
          <p:nvPr/>
        </p:nvSpPr>
        <p:spPr>
          <a:xfrm>
            <a:off x="8619744" y="5583936"/>
            <a:ext cx="3377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50">
                <a:latin typeface="Calibri"/>
                <a:ea typeface="Calibri"/>
                <a:cs typeface="Calibri"/>
              </a:rPr>
              <a:t>Now Assist · AI Agent · Discovery ·  IRM · IT Procurement Orchestration . </a:t>
            </a:r>
          </a:p>
        </p:txBody>
      </p:sp>
      <p:sp>
        <p:nvSpPr>
          <p:cNvPr id="49" name="Shape 47"/>
          <p:cNvSpPr/>
          <p:nvPr/>
        </p:nvSpPr>
        <p:spPr>
          <a:xfrm>
            <a:off x="0" y="6315456"/>
            <a:ext cx="12192000" cy="304800"/>
          </a:xfrm>
          <a:prstGeom prst="rect">
            <a:avLst/>
          </a:prstGeom>
          <a:solidFill>
            <a:srgbClr val="E8D9C8"/>
          </a:solidFill>
          <a:ln w="12700">
            <a:solidFill>
              <a:srgbClr val="E8D9C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50" name="Text 48"/>
          <p:cNvSpPr/>
          <p:nvPr/>
        </p:nvSpPr>
        <p:spPr>
          <a:xfrm>
            <a:off x="219456" y="6327648"/>
            <a:ext cx="115824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latin typeface="Calibri"/>
                <a:ea typeface="Calibri"/>
                <a:cs typeface="Calibri"/>
              </a:rPr>
              <a:t>Skills: ATF  ·  ITSM  ·  CSM  ·  SPO ·  Integration  ·  Custom Applications  ·  Service Portal  ·  Service Catalog  ·  Virtual Agent . Chat Bot|   Certs: CSA ·  ATF Certified</a:t>
            </a:r>
          </a:p>
        </p:txBody>
      </p:sp>
      <p:sp>
        <p:nvSpPr>
          <p:cNvPr id="51" name="Text 49"/>
          <p:cNvSpPr/>
          <p:nvPr/>
        </p:nvSpPr>
        <p:spPr>
          <a:xfrm>
            <a:off x="8778240" y="6656832"/>
            <a:ext cx="316992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33">
                <a:latin typeface="Calibri" pitchFamily="34" charset="0"/>
                <a:ea typeface="Calibri" pitchFamily="34" charset="-122"/>
                <a:cs typeface="Calibri" pitchFamily="34" charset="-120"/>
              </a:rPr>
              <a:t>© 2025 Copyright Genpact. All Rights Reserved</a:t>
            </a:r>
            <a:endParaRPr lang="en-US" sz="933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A98F5599-575C-3056-68A9-B6652CED5C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1432" y="83408"/>
            <a:ext cx="1426728" cy="14405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3071562F0DF3428E5000D7EC0193C7" ma:contentTypeVersion="10" ma:contentTypeDescription="Create a new document." ma:contentTypeScope="" ma:versionID="14f82f84384c4b73a7f3f4a1e7d9c01d">
  <xsd:schema xmlns:xsd="http://www.w3.org/2001/XMLSchema" xmlns:xs="http://www.w3.org/2001/XMLSchema" xmlns:p="http://schemas.microsoft.com/office/2006/metadata/properties" xmlns:ns2="ea7a0903-2dc8-4e8e-85d1-5ccc30485d17" targetNamespace="http://schemas.microsoft.com/office/2006/metadata/properties" ma:root="true" ma:fieldsID="202edcaf80b330a462b347cf79e65c50" ns2:_="">
    <xsd:import namespace="ea7a0903-2dc8-4e8e-85d1-5ccc30485d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7a0903-2dc8-4e8e-85d1-5ccc30485d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c962de5-690c-40f6-9925-46ff4f3fc1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7a0903-2dc8-4e8e-85d1-5ccc30485d1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8A22449-5775-47C1-BD87-74F08F393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5864DD-0F35-421B-942C-2CD7D52BA193}">
  <ds:schemaRefs>
    <ds:schemaRef ds:uri="ea7a0903-2dc8-4e8e-85d1-5ccc30485d1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D9BC4BF-24A6-4F54-AFB9-4E44B3EA3E93}">
  <ds:schemaRefs>
    <ds:schemaRef ds:uri="ea7a0903-2dc8-4e8e-85d1-5ccc30485d17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Kumar, Dhiraj</dc:creator>
  <cp:revision>1</cp:revision>
  <dcterms:created xsi:type="dcterms:W3CDTF">2013-07-15T20:26:40Z</dcterms:created>
  <dcterms:modified xsi:type="dcterms:W3CDTF">2026-04-21T14:31:00Z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0x010100783071562F0DF3428E5000D7EC0193C7</vt:lpwstr>
  </property>
  <property fmtid="{D5CDD505-2E9C-101B-9397-08002B2CF9AE}" pid="3" name="MediaServiceImageTags">
    <vt:lpwstr/>
  </property>
</Properties>
</file>